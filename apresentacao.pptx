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5A6B7A"/>
                </a:solidFill>
                <a:latin typeface="Segoe UI"/>
              </a:rPr>
              <a:t>ECOX14 — ENGENHARIA DE DADOS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1A3A5C"/>
                </a:solidFill>
                <a:latin typeface="Segoe UI"/>
              </a:rPr>
              <a:t>Life Expectancy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5A6B7A"/>
                </a:solidFill>
                <a:latin typeface="Segoe UI"/>
              </a:rPr>
              <a:t>Camadas bronze e prata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11155680" cy="114300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64008" cy="11430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A3A5C"/>
                </a:solidFill>
                <a:latin typeface="Segoe UI"/>
              </a:rPr>
              <a:t>Por que alguns países vivem mais que outros — quanto o nível de renda, a escolaridade e o gasto em saúde explicam da expectativa de vida?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A6B7A"/>
                </a:solidFill>
                <a:latin typeface="Segoe UI"/>
              </a:rPr>
              <a:t>Artur Macedo Costa  ·  2024012996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De onde veio o 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94960" cy="288036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69164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A3A5C"/>
                </a:solidFill>
                <a:latin typeface="Segoe UI"/>
              </a:rPr>
              <a:t>OMS (World Health Organization)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0312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Fonte oficial de saúde. Acesso por API, sem cadastro.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65176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WHOSIS_000001 — expectativa de vida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GHED_CHEGDP_SHA2011 — gasto em saúde (% do PIB)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GHED_CHE_pc_US_SHA2011 — gasto por habitante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5394960" cy="288036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69164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A3A5C"/>
                </a:solidFill>
                <a:latin typeface="Segoe UI"/>
              </a:rPr>
              <a:t>Banco Mundial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10312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Dados econômicos e sociais. Acesso por API, sem cadastro.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65176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NY.GDP.PCAP.CD — PIB per capita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SE.SCH.LIFE — escolaridade esperada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/v2/country — lista de países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1155680" cy="86868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54864" cy="86868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8188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Não usei a planilha que circula no Kaggle, porque é uma cópia de 2015. A API da OMS vai até 2021 e traz os dados separados por sexo.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O dado bruto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Segoe UI"/>
              </a:rPr>
              <a:t>Baixei 29.338 registros. Cada arquivo foi salvo exatamente como o servidor entregou, sem mudar nada — todos em JSON.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1115567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249"/>
                <a:gridCol w="6470294"/>
                <a:gridCol w="2231136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Fonte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O que é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Registros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OMS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expectativa de vida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11.172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OMS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gasto em saúde (% do PIB)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3.824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OMS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gasto em saúde por habitante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3.824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Banco Mundial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lista de países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296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Banco Mundial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PIB per capita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5.054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Banco Mundial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escolaridade esperada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5.168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029200"/>
            <a:ext cx="11155680" cy="91440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54864" cy="9144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1389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As duas APIs entregam os dados aos poucos, em partes. Meu script percorre todas as páginas e confere se chegou tudo. Se faltar alguma coisa, o script não salva o arquivo — assim nunca passa um pedaço incompleto sem eu perceber.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O que estava errado no 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Segoe UI"/>
              </a:rPr>
              <a:t>Rodei uma ferramenta de análise em cada arquivo. Ela aponta os problemas. Esses foram os principais: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7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0953"/>
                <a:gridCol w="5354726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O que foi apontado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O que acontece se eu não arrumar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Número escrito como texto   (a OMS entrega '54.2 [51.2-57.2]')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o computador não consegue comparar nem somar os valores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Grupos de países misturados com países   (627 das 11.172 linhas)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a "América do Sul" entraria na conta como se fosse o Brasil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Metade da escolaridade sem dado   (2.214 de 5.168 registros)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a comparação entre países fica enviesada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Duas colunas totalmente vazias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ocupam espaço e não servem para nada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983480"/>
            <a:ext cx="11155680" cy="96012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983480"/>
            <a:ext cx="54864" cy="96012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09320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O mais difícil foi separar os países dos grupos de países, porque a OMS não tem nenhuma coluna que faça isso. Achei a solução lendo a documentação da API: existe uma coluna em que a fonte diz o que cada linha 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Como resolvi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81328"/>
          <a:ext cx="11155678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033"/>
                <a:gridCol w="4016044"/>
                <a:gridCol w="4127601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Problema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O que fiz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Números como texto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li o número do campo certo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10.545 valores utilizáveis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Grupos misturados com países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usei a coluna que a OMS preenche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expectativa 11.172 → 10.545
gasto 3.824 → 3.615
países 296 → 217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Colunas vazias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contei e apaguei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2 colunas a menos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Renda sem ordem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coloquei os 4 níveis em ordem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dá para comparar e somar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Ano com formato de data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guardei como número inteiro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2000 a 2018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Linhas sem nenhum dado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apaguei 107 linhas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ex.: Gibraltar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212080"/>
            <a:ext cx="11155680" cy="91440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54864" cy="9144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3218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Duas coisas eu mantive. 38 linhas sem nome de país — Ilhas Cook e Niue existem, mas o Banco Mundial não lista. E 59 valores de gasto em saúde fora do padrão: gastar muito não quer dizer que o dado está errado, então marquei em vez de apagar.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Juntei os dados das duas fontes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Segoe UI"/>
              </a:rPr>
              <a:t>A OMS entrega só o código do país, como BRA, sem o nome. O Banco Mundial tem a lista com nome, região e nível de renda.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926080" cy="192024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2D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3A5C"/>
                </a:solidFill>
                <a:latin typeface="Segoe UI"/>
              </a:rPr>
              <a:t>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BRA · 2000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total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71,5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9584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D5A8A"/>
                </a:solidFill>
                <a:latin typeface="Segoe UI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2926080" cy="192024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2D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514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3A5C"/>
                </a:solidFill>
                <a:latin typeface="Segoe UI"/>
              </a:rPr>
              <a:t>Banco Mundial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632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BRA = Brasil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região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renda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1504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D5A8A"/>
                </a:solidFill>
                <a:latin typeface="Segoe UI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286000"/>
            <a:ext cx="3474720" cy="192024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A3A5C"/>
                </a:solidFill>
                <a:latin typeface="Segoe UI"/>
              </a:rPr>
              <a:t>Resultado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30632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Brasil · 2000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renda média alta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A6B7A"/>
                </a:solidFill>
                <a:latin typeface="Segoe UI"/>
              </a:rPr>
              <a:t>71,5 anos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1155680" cy="91440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54864" cy="9144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7731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Nada se perdeu na junção: as duas fontes usam o mesmo código de país, então a ligação é direta. É só aqui que a renda vira categoria ordenada — nenhuma das duas fontes, sozinha, tem essa escala.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Criei 6 colunas novas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Segoe UI"/>
              </a:rPr>
              <a:t>Das 31 colunas da tabela final, 25 vieram das fontes. Estas 6 não existiam: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394960" cy="228600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A3A5C"/>
                </a:solidFill>
                <a:latin typeface="Segoe UI"/>
              </a:rPr>
              <a:t>Calculadas pelo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8892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variacao_pct — quanto mudou no ano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expectativa_vida_faixa — faixa (quartil)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escolaridade_anos_faixa — faixa (quartil)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57400"/>
            <a:ext cx="5394960" cy="228600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2402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A3A5C"/>
                </a:solidFill>
                <a:latin typeface="Segoe UI"/>
              </a:rPr>
              <a:t>Vieram da junção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78892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pais_nome — o nome que a OMS não dá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regiao — a região do país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nivel_renda — a faixa de renda, ordenada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155680" cy="91440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54880"/>
            <a:ext cx="54864" cy="9144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6460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As três da esquerda são novas: não existem em nenhuma das fontes. As três da direita só aparecem depois que as duas fontes são juntas — a OMS entrega o código do país, e o nome, a região e a faixa de renda vêm do Banco Mundial.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Acrescentei colunas que respondem perguntas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C3E50"/>
                </a:solidFill>
                <a:latin typeface="Segoe UI"/>
              </a:rPr>
              <a:t>Além das colunas que vieram das fontes, criei três que ajudam a responder a pergunta do projeto.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79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9817"/>
                <a:gridCol w="7585862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Coluna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O que faz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variacao_pct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mostra quanto a expectativa de vida mudou em relação ao ano anterior, separando por sexo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expectativa_vida_faixa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divide os países em 4 faixas, todas do mesmo tamanho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escolaridade_anos_faixa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  <a:latin typeface="Segoe UI"/>
                        </a:rPr>
                        <a:t>o mesmo, para a escolaridade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206240"/>
            <a:ext cx="11155680" cy="105156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206240"/>
            <a:ext cx="54864" cy="105156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315968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Para que serve a variação? O Rwanda subiu de 49 para 68 anos entre 2001 e 2018. Olhando só os valores, parece uma subida constante. Mas o quanto ganhou por ano caiu de 2,9% para 0,3%. A coluna nova mostra uma desaceleração que a coluna original esconde.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Os maiores saltos são fatos reais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Segoe UI"/>
              </a:rPr>
              <a:t>Onde a expectativa de vida mudou mais de 10% em um ano, quase sempre aconteceu um evento grave — guerra, epidemia, desastre natural.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15567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476"/>
                <a:gridCol w="892454"/>
                <a:gridCol w="1561795"/>
                <a:gridCol w="5800953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País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Ano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O que mudou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O que aconteceu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República Centro-Africana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2009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−48,0%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epidemia de HIV/AIDS e conflito armado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Haiti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2010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−34,8%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terremoto de janeiro de 2010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Somália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2011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−30,5%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fome de 2011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Haiti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2011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+54,1%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recuperação do sistema de saúde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Somália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2012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+43,9%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fim da fome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República Centro-Africana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2010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+89,0%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C3E50"/>
                          </a:solidFill>
                          <a:latin typeface="Segoe UI"/>
                        </a:rPr>
                        <a:t>recuperação após o ano de crise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11155680" cy="91440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892040"/>
            <a:ext cx="54864" cy="9144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0017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São 39 casos em 8 países, e nenhum deles é erro de cálculo. Se eu tivesse apagado essas linhas como “valor estranho”, teria perdido a informação mais importante que a fonte traz sobre esses países.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A pergunta tem resposta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6B7A"/>
                </a:solidFill>
                <a:latin typeface="Segoe UI"/>
              </a:rPr>
              <a:t>Expectativa de vida média (anos) e PIB per capita (US$) por nível de renda.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10512"/>
          <a:ext cx="1115567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3590"/>
                <a:gridCol w="1673352"/>
                <a:gridCol w="1673352"/>
                <a:gridCol w="1784908"/>
                <a:gridCol w="2900476"/>
              </a:tblGrid>
              <a:tr h="42062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Nível de renda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2000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2018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Ganho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PIB 2018</a:t>
                      </a:r>
                    </a:p>
                  </a:txBody>
                  <a:tcPr anchor="ctr" marL="91440">
                    <a:solidFill>
                      <a:srgbClr val="1A3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Baixa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53,2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62,6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+9,4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US$ 676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Média baixa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61,0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67,9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+6,8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US$ 2.350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Média alta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69,6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73,8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+4,2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US$ 6.739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75,7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79,4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+3,8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  <a:latin typeface="Segoe UI"/>
                        </a:rPr>
                        <a:t>US$ 36.906</a:t>
                      </a:r>
                    </a:p>
                  </a:txBody>
                  <a:tcPr anchor="ctr" marL="91440" marR="73152" marT="36576" marB="36576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25196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251960"/>
            <a:ext cx="54864" cy="77724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36168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Quanto mais pobre o país, mais ganhou. A distância entre os extremos era de 22,5 anos e é de 16,8 — diminuiu, mas não acabou.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3036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Segoe UI"/>
              </a:rPr>
              <a:t>O PIB de 2018 multiplica por 55 entre os extremos, mas a expectativa de vida ganha só 16 anos. É a diferença entre ter recursos e transformar recursos em anos de vida.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1A3A5C"/>
                </a:solidFill>
                <a:latin typeface="Segoe UI"/>
              </a:rPr>
              <a:t>Limitações e o que vem 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155680" cy="3810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265176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A3A5C"/>
                </a:solidFill>
                <a:latin typeface="Segoe UI"/>
              </a:rPr>
              <a:t>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• A escolaridade tem menos países por ano (92 a 116) que a expectativa de vida (185) — a comparação olha um grupo menor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• O período vai até 2018 porque a escolaridade parou em 2019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• A OMS atualizou os dados em outubro e mudou o número de casas decimais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394960" cy="2651760"/>
          </a:xfrm>
          <a:prstGeom prst="roundRect">
            <a:avLst/>
          </a:prstGeom>
          <a:solidFill>
            <a:srgbClr val="F7F9FB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A3A5C"/>
                </a:solidFill>
                <a:latin typeface="Segoe UI"/>
              </a:rPr>
              <a:t>Camada ouro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• Modelar os dados para responder à pergunta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• Transformação em SQL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• Testes e documentação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C3E50"/>
                </a:solidFill>
                <a:latin typeface="Segoe UI"/>
              </a:rPr>
              <a:t>• Painel com gráficos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63440"/>
            <a:ext cx="11155680" cy="868680"/>
          </a:xfrm>
          <a:prstGeom prst="round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54864" cy="868680"/>
          </a:xfrm>
          <a:prstGeom prst="rect">
            <a:avLst/>
          </a:prstGeom>
          <a:solidFill>
            <a:srgbClr val="2D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7731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Segoe UI"/>
              </a:rPr>
              <a:t>As tabelas já estão prontas e se cruzam por país e ano: 10.545 registros de expectativa de vida e 4.016 de determinantes.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95A5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